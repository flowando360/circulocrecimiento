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9144000" cy="6858000" type="screen4x3"/>
  <p:notesSz cx="6858000" cy="9144000"/>
  <p:defaultTextStyle>
    <a:defPPr>
      <a:defRPr lang="es-CO"/>
    </a:defPPr>
    <a:lvl1pPr marL="0" algn="l" defTabSz="98425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92125" algn="l" defTabSz="98425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84250" algn="l" defTabSz="98425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77010" algn="l" defTabSz="98425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69135" algn="l" defTabSz="98425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461260" algn="l" defTabSz="98425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953385" algn="l" defTabSz="98425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446145" algn="l" defTabSz="98425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938270" algn="l" defTabSz="98425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1416" y="72"/>
      </p:cViewPr>
      <p:guideLst>
        <p:guide orient="horz" pos="217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1" y="2130431"/>
            <a:ext cx="7772400" cy="147002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2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4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7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69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61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53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46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38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5" y="4406903"/>
            <a:ext cx="7772400" cy="1362075"/>
          </a:xfrm>
        </p:spPr>
        <p:txBody>
          <a:bodyPr anchor="t"/>
          <a:lstStyle>
            <a:lvl1pPr algn="l">
              <a:defRPr sz="43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22315" y="2906719"/>
            <a:ext cx="7772400" cy="1500188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9212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8425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770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9691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4612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9533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4461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9382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5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5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1" y="1535115"/>
            <a:ext cx="4040189" cy="639765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92125" indent="0">
              <a:buNone/>
              <a:defRPr sz="2100" b="1"/>
            </a:lvl2pPr>
            <a:lvl3pPr marL="984250" indent="0">
              <a:buNone/>
              <a:defRPr sz="1900" b="1"/>
            </a:lvl3pPr>
            <a:lvl4pPr marL="1477010" indent="0">
              <a:buNone/>
              <a:defRPr sz="1700" b="1"/>
            </a:lvl4pPr>
            <a:lvl5pPr marL="1969135" indent="0">
              <a:buNone/>
              <a:defRPr sz="1700" b="1"/>
            </a:lvl5pPr>
            <a:lvl6pPr marL="2461260" indent="0">
              <a:buNone/>
              <a:defRPr sz="1700" b="1"/>
            </a:lvl6pPr>
            <a:lvl7pPr marL="2953385" indent="0">
              <a:buNone/>
              <a:defRPr sz="1700" b="1"/>
            </a:lvl7pPr>
            <a:lvl8pPr marL="3446145" indent="0">
              <a:buNone/>
              <a:defRPr sz="1700" b="1"/>
            </a:lvl8pPr>
            <a:lvl9pPr marL="3938270" indent="0">
              <a:buNone/>
              <a:defRPr sz="17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57201" y="2174880"/>
            <a:ext cx="4040189" cy="395128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8" y="1535115"/>
            <a:ext cx="4041775" cy="639765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92125" indent="0">
              <a:buNone/>
              <a:defRPr sz="2100" b="1"/>
            </a:lvl2pPr>
            <a:lvl3pPr marL="984250" indent="0">
              <a:buNone/>
              <a:defRPr sz="1900" b="1"/>
            </a:lvl3pPr>
            <a:lvl4pPr marL="1477010" indent="0">
              <a:buNone/>
              <a:defRPr sz="1700" b="1"/>
            </a:lvl4pPr>
            <a:lvl5pPr marL="1969135" indent="0">
              <a:buNone/>
              <a:defRPr sz="1700" b="1"/>
            </a:lvl5pPr>
            <a:lvl6pPr marL="2461260" indent="0">
              <a:buNone/>
              <a:defRPr sz="1700" b="1"/>
            </a:lvl6pPr>
            <a:lvl7pPr marL="2953385" indent="0">
              <a:buNone/>
              <a:defRPr sz="1700" b="1"/>
            </a:lvl7pPr>
            <a:lvl8pPr marL="3446145" indent="0">
              <a:buNone/>
              <a:defRPr sz="1700" b="1"/>
            </a:lvl8pPr>
            <a:lvl9pPr marL="3938270" indent="0">
              <a:buNone/>
              <a:defRPr sz="17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4645028" y="2174880"/>
            <a:ext cx="4041775" cy="395128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3"/>
            <a:ext cx="3008313" cy="1162050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3575051" y="273056"/>
            <a:ext cx="5111750" cy="5853113"/>
          </a:xfrm>
        </p:spPr>
        <p:txBody>
          <a:bodyPr/>
          <a:lstStyle>
            <a:lvl1pPr>
              <a:defRPr sz="35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457202" y="1435106"/>
            <a:ext cx="3008313" cy="4691063"/>
          </a:xfrm>
        </p:spPr>
        <p:txBody>
          <a:bodyPr/>
          <a:lstStyle>
            <a:lvl1pPr marL="0" indent="0">
              <a:buNone/>
              <a:defRPr sz="1600"/>
            </a:lvl1pPr>
            <a:lvl2pPr marL="492125" indent="0">
              <a:buNone/>
              <a:defRPr sz="1400"/>
            </a:lvl2pPr>
            <a:lvl3pPr marL="984250" indent="0">
              <a:buNone/>
              <a:defRPr sz="1000"/>
            </a:lvl3pPr>
            <a:lvl4pPr marL="1477010" indent="0">
              <a:buNone/>
              <a:defRPr sz="1000"/>
            </a:lvl4pPr>
            <a:lvl5pPr marL="1969135" indent="0">
              <a:buNone/>
              <a:defRPr sz="1000"/>
            </a:lvl5pPr>
            <a:lvl6pPr marL="2461260" indent="0">
              <a:buNone/>
              <a:defRPr sz="1000"/>
            </a:lvl6pPr>
            <a:lvl7pPr marL="2953385" indent="0">
              <a:buNone/>
              <a:defRPr sz="1000"/>
            </a:lvl7pPr>
            <a:lvl8pPr marL="3446145" indent="0">
              <a:buNone/>
              <a:defRPr sz="1000"/>
            </a:lvl8pPr>
            <a:lvl9pPr marL="393827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4"/>
            <a:ext cx="5486400" cy="566738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3"/>
            <a:ext cx="5486400" cy="4114800"/>
          </a:xfrm>
        </p:spPr>
        <p:txBody>
          <a:bodyPr/>
          <a:lstStyle>
            <a:lvl1pPr marL="0" indent="0">
              <a:buNone/>
              <a:defRPr sz="3500"/>
            </a:lvl1pPr>
            <a:lvl2pPr marL="492125" indent="0">
              <a:buNone/>
              <a:defRPr sz="2900"/>
            </a:lvl2pPr>
            <a:lvl3pPr marL="984250" indent="0">
              <a:buNone/>
              <a:defRPr sz="2500"/>
            </a:lvl3pPr>
            <a:lvl4pPr marL="1477010" indent="0">
              <a:buNone/>
              <a:defRPr sz="2100"/>
            </a:lvl4pPr>
            <a:lvl5pPr marL="1969135" indent="0">
              <a:buNone/>
              <a:defRPr sz="2100"/>
            </a:lvl5pPr>
            <a:lvl6pPr marL="2461260" indent="0">
              <a:buNone/>
              <a:defRPr sz="2100"/>
            </a:lvl6pPr>
            <a:lvl7pPr marL="2953385" indent="0">
              <a:buNone/>
              <a:defRPr sz="2100"/>
            </a:lvl7pPr>
            <a:lvl8pPr marL="3446145" indent="0">
              <a:buNone/>
              <a:defRPr sz="2100"/>
            </a:lvl8pPr>
            <a:lvl9pPr marL="3938270" indent="0">
              <a:buNone/>
              <a:defRPr sz="21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41"/>
            <a:ext cx="5486400" cy="804863"/>
          </a:xfrm>
        </p:spPr>
        <p:txBody>
          <a:bodyPr/>
          <a:lstStyle>
            <a:lvl1pPr marL="0" indent="0">
              <a:buNone/>
              <a:defRPr sz="1600"/>
            </a:lvl1pPr>
            <a:lvl2pPr marL="492125" indent="0">
              <a:buNone/>
              <a:defRPr sz="1400"/>
            </a:lvl2pPr>
            <a:lvl3pPr marL="984250" indent="0">
              <a:buNone/>
              <a:defRPr sz="1000"/>
            </a:lvl3pPr>
            <a:lvl4pPr marL="1477010" indent="0">
              <a:buNone/>
              <a:defRPr sz="1000"/>
            </a:lvl4pPr>
            <a:lvl5pPr marL="1969135" indent="0">
              <a:buNone/>
              <a:defRPr sz="1000"/>
            </a:lvl5pPr>
            <a:lvl6pPr marL="2461260" indent="0">
              <a:buNone/>
              <a:defRPr sz="1000"/>
            </a:lvl6pPr>
            <a:lvl7pPr marL="2953385" indent="0">
              <a:buNone/>
              <a:defRPr sz="1000"/>
            </a:lvl7pPr>
            <a:lvl8pPr marL="3446145" indent="0">
              <a:buNone/>
              <a:defRPr sz="1000"/>
            </a:lvl8pPr>
            <a:lvl9pPr marL="393827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6"/>
            <a:ext cx="2057400" cy="585152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46"/>
            <a:ext cx="6019800" cy="585152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5"/>
            <a:ext cx="8229600" cy="1143000"/>
          </a:xfrm>
          <a:prstGeom prst="rect">
            <a:avLst/>
          </a:prstGeom>
        </p:spPr>
        <p:txBody>
          <a:bodyPr vert="horz" lIns="98457" tIns="49228" rIns="98457" bIns="49228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5"/>
          </a:xfrm>
          <a:prstGeom prst="rect">
            <a:avLst/>
          </a:prstGeom>
        </p:spPr>
        <p:txBody>
          <a:bodyPr vert="horz" lIns="98457" tIns="49228" rIns="98457" bIns="49228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1" y="6356359"/>
            <a:ext cx="2133600" cy="365123"/>
          </a:xfrm>
          <a:prstGeom prst="rect">
            <a:avLst/>
          </a:prstGeom>
        </p:spPr>
        <p:txBody>
          <a:bodyPr vert="horz" lIns="98457" tIns="49228" rIns="98457" bIns="49228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A0C9A-77A2-405E-BB69-0EE7E43C1820}" type="datetimeFigureOut">
              <a:rPr lang="es-CO" smtClean="0"/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9"/>
            <a:ext cx="2895600" cy="365123"/>
          </a:xfrm>
          <a:prstGeom prst="rect">
            <a:avLst/>
          </a:prstGeom>
        </p:spPr>
        <p:txBody>
          <a:bodyPr vert="horz" lIns="98457" tIns="49228" rIns="98457" bIns="49228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9"/>
            <a:ext cx="2133600" cy="365123"/>
          </a:xfrm>
          <a:prstGeom prst="rect">
            <a:avLst/>
          </a:prstGeom>
        </p:spPr>
        <p:txBody>
          <a:bodyPr vert="horz" lIns="98457" tIns="49228" rIns="98457" bIns="49228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37349-1CA0-4076-ACDA-6914118C4661}" type="slidenum">
              <a:rPr lang="es-CO" smtClean="0"/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84250" rtl="0" eaLnBrk="1" latinLnBrk="0" hangingPunct="1">
        <a:spcBef>
          <a:spcPct val="0"/>
        </a:spcBef>
        <a:buNone/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8935" indent="-368935" algn="l" defTabSz="984250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07975" algn="l" defTabSz="984250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230630" indent="-246380" algn="l" defTabSz="9842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755" indent="-246380" algn="l" defTabSz="98425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15515" indent="-246380" algn="l" defTabSz="984250" rtl="0" eaLnBrk="1" latinLnBrk="0" hangingPunct="1">
        <a:spcBef>
          <a:spcPct val="20000"/>
        </a:spcBef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07640" indent="-246380" algn="l" defTabSz="9842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99765" indent="-246380" algn="l" defTabSz="9842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91890" indent="-246380" algn="l" defTabSz="9842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84650" indent="-246380" algn="l" defTabSz="9842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8425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125" algn="l" defTabSz="98425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4250" algn="l" defTabSz="98425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7010" algn="l" defTabSz="98425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69135" algn="l" defTabSz="98425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1260" algn="l" defTabSz="98425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3385" algn="l" defTabSz="98425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46145" algn="l" defTabSz="98425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38270" algn="l" defTabSz="98425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30 Conector recto"/>
          <p:cNvCxnSpPr/>
          <p:nvPr/>
        </p:nvCxnSpPr>
        <p:spPr>
          <a:xfrm>
            <a:off x="8603307" y="2853339"/>
            <a:ext cx="0" cy="9359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17 Cerrar corchete"/>
          <p:cNvSpPr/>
          <p:nvPr/>
        </p:nvSpPr>
        <p:spPr>
          <a:xfrm rot="16200000">
            <a:off x="4326255" y="-1073150"/>
            <a:ext cx="576580" cy="6412230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98457" tIns="49228" rIns="98457" bIns="49228" spcCol="0" rtlCol="0" anchor="ctr"/>
          <a:lstStyle/>
          <a:p>
            <a:pPr algn="ctr"/>
            <a:endParaRPr lang="es-CO" dirty="0"/>
          </a:p>
        </p:txBody>
      </p:sp>
      <p:cxnSp>
        <p:nvCxnSpPr>
          <p:cNvPr id="47" name="46 Conector recto"/>
          <p:cNvCxnSpPr>
            <a:endCxn id="35" idx="0"/>
          </p:cNvCxnSpPr>
          <p:nvPr/>
        </p:nvCxnSpPr>
        <p:spPr>
          <a:xfrm flipH="1">
            <a:off x="750364" y="2852884"/>
            <a:ext cx="194945" cy="3600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uadro de texto 2"/>
          <p:cNvSpPr txBox="1">
            <a:spLocks noChangeArrowheads="1"/>
          </p:cNvSpPr>
          <p:nvPr/>
        </p:nvSpPr>
        <p:spPr bwMode="auto">
          <a:xfrm>
            <a:off x="3821508" y="44624"/>
            <a:ext cx="1511935" cy="4317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200" b="1" dirty="0" smtClean="0">
                <a:latin typeface="Calibri" panose="020F0502020204030204"/>
                <a:ea typeface="Calibri" panose="020F0502020204030204"/>
                <a:cs typeface="Times New Roman" panose="02020603050405020304"/>
              </a:rPr>
              <a:t>ASAMBLEA DE ACCIONISTAS</a:t>
            </a:r>
            <a:endParaRPr lang="es-CO" sz="12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3821506" y="622079"/>
            <a:ext cx="1511935" cy="4317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200" b="1" dirty="0" smtClean="0">
                <a:ea typeface="Calibri" panose="020F0502020204030204"/>
                <a:cs typeface="Times New Roman" panose="02020603050405020304"/>
              </a:rPr>
              <a:t>GERENCIA GENERAL (</a:t>
            </a:r>
            <a:r>
              <a:rPr lang="es-MX" altLang="es-CO" sz="1200" b="1" dirty="0" smtClean="0">
                <a:ea typeface="Calibri" panose="020F0502020204030204"/>
                <a:cs typeface="Times New Roman" panose="02020603050405020304"/>
              </a:rPr>
              <a:t>Luz Adriana Rozo</a:t>
            </a:r>
            <a:r>
              <a:rPr lang="es-CO" sz="12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12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9" name="Cuadro de texto 2"/>
          <p:cNvSpPr txBox="1">
            <a:spLocks noChangeArrowheads="1"/>
          </p:cNvSpPr>
          <p:nvPr/>
        </p:nvSpPr>
        <p:spPr bwMode="auto">
          <a:xfrm>
            <a:off x="7306945" y="3057525"/>
            <a:ext cx="1203325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altLang="es-CO" sz="800" b="1" dirty="0" smtClean="0">
                <a:ea typeface="Calibri" panose="020F0502020204030204"/>
                <a:cs typeface="Times New Roman" panose="02020603050405020304"/>
              </a:rPr>
              <a:t>ASESORA DE OBRAS</a:t>
            </a:r>
            <a:r>
              <a:rPr lang="es-CO" sz="800" b="1" dirty="0" smtClean="0">
                <a:ea typeface="Calibri" panose="020F0502020204030204"/>
                <a:cs typeface="Times New Roman" panose="02020603050405020304"/>
              </a:rPr>
              <a:t> Y SERVICIO AL CLIENTE (</a:t>
            </a:r>
            <a:r>
              <a:rPr lang="es-MX" altLang="es-CO" sz="800" b="1" dirty="0" smtClean="0">
                <a:ea typeface="Calibri" panose="020F0502020204030204"/>
                <a:cs typeface="Times New Roman" panose="02020603050405020304"/>
              </a:rPr>
              <a:t>Luz Ennith Álvarez Cardona</a:t>
            </a:r>
            <a:r>
              <a:rPr lang="es-CO" sz="8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800" b="1" dirty="0" smtClean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12" name="Cuadro de texto 2"/>
          <p:cNvSpPr txBox="1">
            <a:spLocks noChangeArrowheads="1"/>
          </p:cNvSpPr>
          <p:nvPr/>
        </p:nvSpPr>
        <p:spPr bwMode="auto">
          <a:xfrm>
            <a:off x="7308215" y="2425065"/>
            <a:ext cx="1442720" cy="431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s-MX" altLang="es-CO" sz="1200" b="1" dirty="0" smtClean="0">
                <a:ea typeface="Calibri" panose="020F0502020204030204"/>
                <a:cs typeface="Times New Roman" panose="02020603050405020304"/>
              </a:rPr>
              <a:t>COORDINADORA</a:t>
            </a:r>
            <a:r>
              <a:rPr lang="es-CO" sz="1200" b="1" dirty="0" smtClean="0">
                <a:ea typeface="Calibri" panose="020F0502020204030204"/>
                <a:cs typeface="Times New Roman" panose="02020603050405020304"/>
              </a:rPr>
              <a:t> COMERCIAL (</a:t>
            </a:r>
            <a:r>
              <a:rPr lang="es-MX" altLang="es-CO" sz="1200" b="1" dirty="0" smtClean="0">
                <a:ea typeface="Calibri" panose="020F0502020204030204"/>
                <a:cs typeface="Times New Roman" panose="02020603050405020304"/>
              </a:rPr>
              <a:t>Tatiana Serna</a:t>
            </a:r>
            <a:r>
              <a:rPr lang="es-CO" sz="12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12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3" name="2 Conector recto"/>
          <p:cNvCxnSpPr>
            <a:stCxn id="7" idx="2"/>
            <a:endCxn id="8" idx="0"/>
          </p:cNvCxnSpPr>
          <p:nvPr/>
        </p:nvCxnSpPr>
        <p:spPr>
          <a:xfrm flipH="1">
            <a:off x="4577476" y="476414"/>
            <a:ext cx="1" cy="1456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13 Conector recto"/>
          <p:cNvCxnSpPr>
            <a:stCxn id="9" idx="1"/>
            <a:endCxn id="8" idx="3"/>
          </p:cNvCxnSpPr>
          <p:nvPr/>
        </p:nvCxnSpPr>
        <p:spPr>
          <a:xfrm flipH="1" flipV="1">
            <a:off x="5333060" y="837978"/>
            <a:ext cx="1973580" cy="25006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16 Conector recto"/>
          <p:cNvCxnSpPr>
            <a:stCxn id="8" idx="2"/>
          </p:cNvCxnSpPr>
          <p:nvPr/>
        </p:nvCxnSpPr>
        <p:spPr>
          <a:xfrm flipH="1">
            <a:off x="4572001" y="1053877"/>
            <a:ext cx="5473" cy="7909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31 Conector recto"/>
          <p:cNvCxnSpPr>
            <a:endCxn id="39" idx="0"/>
          </p:cNvCxnSpPr>
          <p:nvPr/>
        </p:nvCxnSpPr>
        <p:spPr>
          <a:xfrm>
            <a:off x="2441198" y="1845563"/>
            <a:ext cx="38100" cy="5759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3707739" y="1845563"/>
            <a:ext cx="71755" cy="5759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Cuadro de texto 2"/>
          <p:cNvSpPr txBox="1">
            <a:spLocks noChangeArrowheads="1"/>
          </p:cNvSpPr>
          <p:nvPr/>
        </p:nvSpPr>
        <p:spPr bwMode="auto">
          <a:xfrm>
            <a:off x="179070" y="3213100"/>
            <a:ext cx="1142365" cy="9220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AUXILIAR 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DE 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TALENTO HUMANO Y SST (Vanessa Monsalve)</a:t>
            </a:r>
            <a:endParaRPr 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39" name="Cuadro de texto 2"/>
          <p:cNvSpPr txBox="1">
            <a:spLocks noChangeArrowheads="1"/>
          </p:cNvSpPr>
          <p:nvPr/>
        </p:nvSpPr>
        <p:spPr bwMode="auto">
          <a:xfrm>
            <a:off x="1907540" y="2421255"/>
            <a:ext cx="1142365" cy="523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altLang="es-CO" sz="1000" b="1" dirty="0" smtClean="0">
                <a:ea typeface="Calibri" panose="020F0502020204030204"/>
                <a:cs typeface="Times New Roman" panose="02020603050405020304"/>
              </a:rPr>
              <a:t>COORDINADORA 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ADMINISTRA</a:t>
            </a:r>
            <a:r>
              <a:rPr lang="es-MX" altLang="es-CO" sz="1000" b="1" dirty="0" smtClean="0">
                <a:ea typeface="Calibri" panose="020F0502020204030204"/>
                <a:cs typeface="Times New Roman" panose="02020603050405020304"/>
              </a:rPr>
              <a:t>TIVA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 (</a:t>
            </a:r>
            <a:r>
              <a:rPr lang="es-ES" altLang="es-CO" sz="1000" b="1" dirty="0" smtClean="0">
                <a:ea typeface="Calibri" panose="020F0502020204030204"/>
                <a:cs typeface="Times New Roman" panose="02020603050405020304"/>
              </a:rPr>
              <a:t>Camila Carmona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40" name="Cuadro de texto 2"/>
          <p:cNvSpPr txBox="1">
            <a:spLocks noChangeArrowheads="1"/>
          </p:cNvSpPr>
          <p:nvPr/>
        </p:nvSpPr>
        <p:spPr bwMode="auto">
          <a:xfrm>
            <a:off x="3212604" y="2421206"/>
            <a:ext cx="1296144" cy="53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altLang="es-CO" sz="1000" b="1" dirty="0" smtClean="0">
                <a:ea typeface="Calibri" panose="020F0502020204030204"/>
                <a:cs typeface="Times New Roman" panose="02020603050405020304"/>
              </a:rPr>
              <a:t>COORDINADORA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 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DE 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PRODUCCIÓN </a:t>
            </a:r>
            <a:endParaRPr lang="es-CO" sz="1000" b="1" dirty="0" smtClean="0">
              <a:ea typeface="Calibri" panose="020F05020202040302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(</a:t>
            </a:r>
            <a:r>
              <a:rPr lang="es-MX" altLang="es-CO" sz="1000" b="1" dirty="0" smtClean="0">
                <a:ea typeface="Calibri" panose="020F0502020204030204"/>
                <a:cs typeface="Times New Roman" panose="02020603050405020304"/>
              </a:rPr>
              <a:t>Diana Zapata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42" name="Cuadro de texto 2"/>
          <p:cNvSpPr txBox="1">
            <a:spLocks noChangeArrowheads="1"/>
          </p:cNvSpPr>
          <p:nvPr/>
        </p:nvSpPr>
        <p:spPr bwMode="auto">
          <a:xfrm>
            <a:off x="7884160" y="3789045"/>
            <a:ext cx="1151890" cy="197993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ASESORES COMERCIALES (Elisa Serpa, Catalina Manco, Paula Soto, </a:t>
            </a:r>
            <a:r>
              <a:rPr lang="es-MX" altLang="es-CO" sz="1000" b="1" dirty="0" smtClean="0">
                <a:ea typeface="Calibri" panose="020F0502020204030204"/>
                <a:cs typeface="Times New Roman" panose="02020603050405020304"/>
              </a:rPr>
              <a:t> Valentina Chalarca, Cristina Pérez, Raquel Martinez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)  </a:t>
            </a:r>
            <a:endParaRPr 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48" name="47 Conector recto"/>
          <p:cNvCxnSpPr>
            <a:endCxn id="51" idx="0"/>
          </p:cNvCxnSpPr>
          <p:nvPr/>
        </p:nvCxnSpPr>
        <p:spPr>
          <a:xfrm>
            <a:off x="1475423" y="2924759"/>
            <a:ext cx="422910" cy="438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Cuadro de texto 2"/>
          <p:cNvSpPr txBox="1">
            <a:spLocks noChangeArrowheads="1"/>
          </p:cNvSpPr>
          <p:nvPr/>
        </p:nvSpPr>
        <p:spPr bwMode="auto">
          <a:xfrm>
            <a:off x="1430655" y="3363595"/>
            <a:ext cx="935990" cy="95948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AUXILIAR DE SERVICIOS 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GENERALES (Elizabeth Osorio y </a:t>
            </a:r>
            <a:r>
              <a:rPr lang="es-CO" sz="900" b="1" dirty="0" err="1" smtClean="0">
                <a:ea typeface="Calibri" panose="020F0502020204030204"/>
                <a:cs typeface="Times New Roman" panose="02020603050405020304"/>
              </a:rPr>
              <a:t>Uris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 Padilla)</a:t>
            </a:r>
            <a:endParaRPr lang="es-CO" sz="9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53" name="52 Conector recto"/>
          <p:cNvCxnSpPr/>
          <p:nvPr/>
        </p:nvCxnSpPr>
        <p:spPr>
          <a:xfrm flipH="1">
            <a:off x="2564135" y="4365104"/>
            <a:ext cx="720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>
            <a:off x="3635897" y="2925356"/>
            <a:ext cx="0" cy="29521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Cuadro de texto 2"/>
          <p:cNvSpPr txBox="1">
            <a:spLocks noChangeArrowheads="1"/>
          </p:cNvSpPr>
          <p:nvPr/>
        </p:nvSpPr>
        <p:spPr bwMode="auto">
          <a:xfrm>
            <a:off x="4577715" y="2425065"/>
            <a:ext cx="1169035" cy="6324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COORDINADOR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 LOGÍSTIC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O E INVENTARIOS</a:t>
            </a:r>
            <a:endParaRPr lang="es-MX" altLang="es-CO" sz="900" b="1" dirty="0" smtClean="0">
              <a:ea typeface="Calibri" panose="020F05020202040302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(Fredy Rendón)</a:t>
            </a:r>
            <a:endParaRPr lang="es-CO" sz="900" b="1" dirty="0" smtClean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71" name="70 Conector recto"/>
          <p:cNvCxnSpPr/>
          <p:nvPr/>
        </p:nvCxnSpPr>
        <p:spPr>
          <a:xfrm flipH="1">
            <a:off x="3620264" y="4323184"/>
            <a:ext cx="201295" cy="35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Cuadro de texto 2"/>
          <p:cNvSpPr txBox="1">
            <a:spLocks noChangeArrowheads="1"/>
          </p:cNvSpPr>
          <p:nvPr/>
        </p:nvSpPr>
        <p:spPr bwMode="auto">
          <a:xfrm>
            <a:off x="3779520" y="3933190"/>
            <a:ext cx="1202690" cy="14058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CORTADORES Y OTROS OFICIOS DE PRODUCCIÓN (</a:t>
            </a:r>
            <a:r>
              <a:rPr lang="es-CO" sz="900" b="1" dirty="0" err="1" smtClean="0">
                <a:ea typeface="Calibri" panose="020F0502020204030204"/>
                <a:cs typeface="Times New Roman" panose="02020603050405020304"/>
              </a:rPr>
              <a:t>Jose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 </a:t>
            </a:r>
            <a:r>
              <a:rPr lang="es-CO" sz="900" b="1" dirty="0" err="1" smtClean="0">
                <a:ea typeface="Calibri" panose="020F0502020204030204"/>
                <a:cs typeface="Times New Roman" panose="02020603050405020304"/>
              </a:rPr>
              <a:t>Ketterer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, Oscar Martínez,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 Jacob Mendez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9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75" name="Cuadro de texto 2"/>
          <p:cNvSpPr txBox="1">
            <a:spLocks noChangeArrowheads="1"/>
          </p:cNvSpPr>
          <p:nvPr/>
        </p:nvSpPr>
        <p:spPr bwMode="auto">
          <a:xfrm>
            <a:off x="3749040" y="5445760"/>
            <a:ext cx="1258570" cy="137541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OPERARIO DE PRODUCCIÓN ( Roberto Gaviria, Juan Pablo Osorio, Jahn Carlos Flores, Brayner Vergara, Carlos Martínez</a:t>
            </a:r>
            <a:r>
              <a:rPr lang="es-ES" altLang="es-MX" sz="900" b="1" dirty="0" smtClean="0">
                <a:ea typeface="Calibri" panose="020F0502020204030204"/>
                <a:cs typeface="Times New Roman" panose="02020603050405020304"/>
              </a:rPr>
              <a:t>, 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  <a:sym typeface="+mn-ea"/>
              </a:rPr>
              <a:t> Derwis Gonzalez</a:t>
            </a:r>
            <a:r>
              <a:rPr lang="es-ES" altLang="es-MX" sz="900" b="1" dirty="0" smtClean="0">
                <a:ea typeface="Calibri" panose="020F0502020204030204"/>
                <a:cs typeface="Times New Roman" panose="02020603050405020304"/>
                <a:sym typeface="+mn-ea"/>
              </a:rPr>
              <a:t>, 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  <a:sym typeface="+mn-ea"/>
              </a:rPr>
              <a:t> Julio Cardoso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) </a:t>
            </a:r>
            <a:endParaRPr lang="es-CO" sz="9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78" name="77 Conector recto"/>
          <p:cNvCxnSpPr/>
          <p:nvPr/>
        </p:nvCxnSpPr>
        <p:spPr>
          <a:xfrm flipH="1" flipV="1">
            <a:off x="3564384" y="5877644"/>
            <a:ext cx="217805" cy="1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Cuadro de texto 2"/>
          <p:cNvSpPr txBox="1">
            <a:spLocks noChangeArrowheads="1"/>
          </p:cNvSpPr>
          <p:nvPr/>
        </p:nvSpPr>
        <p:spPr bwMode="auto">
          <a:xfrm>
            <a:off x="112395" y="4709795"/>
            <a:ext cx="1363345" cy="214820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CONTRATISTAS 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INSTALADORES</a:t>
            </a:r>
            <a:endParaRPr lang="es-CO" sz="900" b="1" dirty="0" smtClean="0">
              <a:ea typeface="Calibri" panose="020F05020202040302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(Juan Pablo Molina, 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Alfredo </a:t>
            </a:r>
            <a:r>
              <a:rPr lang="es-MX" sz="900" b="1" dirty="0" err="1" smtClean="0">
                <a:ea typeface="Calibri" panose="020F0502020204030204"/>
                <a:cs typeface="Times New Roman" panose="02020603050405020304"/>
              </a:rPr>
              <a:t>Velosa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, Juan Carlos Ospina, Yolanda Guerrero, </a:t>
            </a:r>
            <a:r>
              <a:rPr lang="es-MX" sz="900" b="1" dirty="0" err="1" smtClean="0">
                <a:ea typeface="Calibri" panose="020F0502020204030204"/>
                <a:cs typeface="Times New Roman" panose="02020603050405020304"/>
              </a:rPr>
              <a:t>Jarrison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 Sepúlveda, Junior </a:t>
            </a:r>
            <a:r>
              <a:rPr lang="es-MX" sz="900" b="1" dirty="0" err="1" smtClean="0">
                <a:ea typeface="Calibri" panose="020F0502020204030204"/>
                <a:cs typeface="Times New Roman" panose="02020603050405020304"/>
              </a:rPr>
              <a:t>Gudino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, Junior Ruiz, </a:t>
            </a:r>
            <a:r>
              <a:rPr lang="es-MX" sz="900" b="1" dirty="0" err="1" smtClean="0">
                <a:ea typeface="Calibri" panose="020F0502020204030204"/>
                <a:cs typeface="Times New Roman" panose="02020603050405020304"/>
              </a:rPr>
              <a:t>Wilderson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 </a:t>
            </a:r>
            <a:r>
              <a:rPr lang="es-MX" sz="900" b="1" dirty="0" err="1" smtClean="0">
                <a:ea typeface="Calibri" panose="020F0502020204030204"/>
                <a:cs typeface="Times New Roman" panose="02020603050405020304"/>
              </a:rPr>
              <a:t>Rodriguez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, Mauricio Hoyos, </a:t>
            </a:r>
            <a:r>
              <a:rPr lang="es-MX" sz="900" b="1" dirty="0" err="1" smtClean="0">
                <a:ea typeface="Calibri" panose="020F0502020204030204"/>
                <a:cs typeface="Times New Roman" panose="02020603050405020304"/>
              </a:rPr>
              <a:t>Yeisson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 </a:t>
            </a:r>
            <a:r>
              <a:rPr lang="es-MX" sz="900" b="1" dirty="0" err="1" smtClean="0">
                <a:ea typeface="Calibri" panose="020F0502020204030204"/>
                <a:cs typeface="Times New Roman" panose="02020603050405020304"/>
              </a:rPr>
              <a:t>rodriguez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, Daniel </a:t>
            </a:r>
            <a:r>
              <a:rPr lang="es-MX" sz="900" b="1" dirty="0" err="1" smtClean="0">
                <a:ea typeface="Calibri" panose="020F0502020204030204"/>
                <a:cs typeface="Times New Roman" panose="02020603050405020304"/>
              </a:rPr>
              <a:t>Rodriguez</a:t>
            </a: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, Jaime Agudelo, Hector Caro)</a:t>
            </a:r>
            <a:endParaRPr lang="es-CO" sz="900" b="1" dirty="0" smtClean="0">
              <a:ea typeface="Calibri" panose="020F05020202040302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  <a:endParaRPr lang="es-CO" sz="9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86" name="85 Conector recto"/>
          <p:cNvCxnSpPr>
            <a:stCxn id="82" idx="3"/>
            <a:endCxn id="40" idx="1"/>
          </p:cNvCxnSpPr>
          <p:nvPr/>
        </p:nvCxnSpPr>
        <p:spPr>
          <a:xfrm flipV="1">
            <a:off x="1475964" y="2689007"/>
            <a:ext cx="1736725" cy="309499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101 Conector recto"/>
          <p:cNvCxnSpPr>
            <a:endCxn id="103" idx="0"/>
          </p:cNvCxnSpPr>
          <p:nvPr/>
        </p:nvCxnSpPr>
        <p:spPr>
          <a:xfrm>
            <a:off x="1115869" y="1341274"/>
            <a:ext cx="5588635" cy="187198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3" name="Cuadro de texto 2"/>
          <p:cNvSpPr txBox="1">
            <a:spLocks noChangeArrowheads="1"/>
          </p:cNvSpPr>
          <p:nvPr/>
        </p:nvSpPr>
        <p:spPr bwMode="auto">
          <a:xfrm>
            <a:off x="6316980" y="3213100"/>
            <a:ext cx="774065" cy="8413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AUXILIAR CONTABLE (</a:t>
            </a:r>
            <a:r>
              <a:rPr lang="es-ES" altLang="es-CO" sz="1000" b="1" dirty="0" smtClean="0">
                <a:ea typeface="Calibri" panose="020F0502020204030204"/>
                <a:cs typeface="Times New Roman" panose="02020603050405020304"/>
              </a:rPr>
              <a:t>XXXX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119" name="118 Conector recto"/>
          <p:cNvCxnSpPr>
            <a:endCxn id="59" idx="3"/>
          </p:cNvCxnSpPr>
          <p:nvPr/>
        </p:nvCxnSpPr>
        <p:spPr>
          <a:xfrm flipH="1">
            <a:off x="1187624" y="1210192"/>
            <a:ext cx="3384378" cy="130701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Cuadro de texto 2"/>
          <p:cNvSpPr txBox="1">
            <a:spLocks noChangeArrowheads="1"/>
          </p:cNvSpPr>
          <p:nvPr/>
        </p:nvSpPr>
        <p:spPr bwMode="auto">
          <a:xfrm>
            <a:off x="13855" y="27898"/>
            <a:ext cx="1317785" cy="66123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REVISOR 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FISCAL (Sergio Giraldo y Astrid </a:t>
            </a:r>
            <a:r>
              <a:rPr lang="es-CO" sz="1000" b="1" dirty="0" err="1" smtClean="0">
                <a:ea typeface="Calibri" panose="020F0502020204030204"/>
                <a:cs typeface="Times New Roman" panose="02020603050405020304"/>
              </a:rPr>
              <a:t>Eusse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, Manuela </a:t>
            </a:r>
            <a:r>
              <a:rPr lang="es-CO" sz="1000" b="1" dirty="0" err="1" smtClean="0">
                <a:ea typeface="Calibri" panose="020F0502020204030204"/>
                <a:cs typeface="Times New Roman" panose="02020603050405020304"/>
              </a:rPr>
              <a:t>Aristizabal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140" name="Cuadro de texto 2"/>
          <p:cNvSpPr txBox="1">
            <a:spLocks noChangeArrowheads="1"/>
          </p:cNvSpPr>
          <p:nvPr/>
        </p:nvSpPr>
        <p:spPr bwMode="auto">
          <a:xfrm>
            <a:off x="35496" y="744352"/>
            <a:ext cx="1261580" cy="3255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ASESORES 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FREELANCE (Adriana Aguilar)</a:t>
            </a:r>
            <a:endParaRPr lang="es-CO" sz="9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142" name="Cuadro de texto 2"/>
          <p:cNvSpPr txBox="1">
            <a:spLocks noChangeArrowheads="1"/>
          </p:cNvSpPr>
          <p:nvPr/>
        </p:nvSpPr>
        <p:spPr bwMode="auto">
          <a:xfrm>
            <a:off x="76582" y="1627909"/>
            <a:ext cx="1220494" cy="4317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ASESORES 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INFORMÁTICOS (</a:t>
            </a:r>
            <a:r>
              <a:rPr lang="es-CO" sz="900" b="1" dirty="0" err="1" smtClean="0">
                <a:ea typeface="Calibri" panose="020F0502020204030204"/>
                <a:cs typeface="Times New Roman" panose="02020603050405020304"/>
              </a:rPr>
              <a:t>Kontrol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9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160" name="159 Conector recto"/>
          <p:cNvCxnSpPr/>
          <p:nvPr/>
        </p:nvCxnSpPr>
        <p:spPr>
          <a:xfrm flipH="1" flipV="1">
            <a:off x="3468312" y="3947748"/>
            <a:ext cx="167640" cy="577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Cuadro de texto 2"/>
          <p:cNvSpPr txBox="1">
            <a:spLocks noChangeArrowheads="1"/>
          </p:cNvSpPr>
          <p:nvPr/>
        </p:nvSpPr>
        <p:spPr bwMode="auto">
          <a:xfrm>
            <a:off x="2269075" y="5769106"/>
            <a:ext cx="1150797" cy="40492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800" b="1" dirty="0" smtClean="0">
                <a:ea typeface="Calibri" panose="020F0502020204030204"/>
                <a:cs typeface="Times New Roman" panose="02020603050405020304"/>
              </a:rPr>
              <a:t>TRANSPORTADORES</a:t>
            </a:r>
            <a:endParaRPr lang="es-CO" sz="800" b="1" dirty="0" smtClean="0">
              <a:ea typeface="Calibri" panose="020F05020202040302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  <a:r>
              <a:rPr lang="es-MX" sz="800" b="1" dirty="0" smtClean="0">
                <a:latin typeface="Calibri" panose="020F0502020204030204"/>
                <a:ea typeface="Calibri" panose="020F0502020204030204"/>
                <a:cs typeface="Times New Roman" panose="02020603050405020304"/>
              </a:rPr>
              <a:t>(Ignacio Giraldo, Julio Murillo)</a:t>
            </a:r>
            <a:endParaRPr lang="es-CO" sz="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181" name="180 Cerrar corchete"/>
          <p:cNvSpPr/>
          <p:nvPr/>
        </p:nvSpPr>
        <p:spPr>
          <a:xfrm>
            <a:off x="1309965" y="307709"/>
            <a:ext cx="237699" cy="1440508"/>
          </a:xfrm>
          <a:prstGeom prst="rightBracket">
            <a:avLst/>
          </a:prstGeom>
          <a:ln w="9525" cap="flat" cmpd="sng" algn="ctr">
            <a:solidFill>
              <a:schemeClr val="accent6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98457" tIns="49228" rIns="98457" bIns="49228" spcCol="0" rtlCol="0" anchor="ctr"/>
          <a:lstStyle/>
          <a:p>
            <a:pPr algn="ctr"/>
            <a:endParaRPr lang="es-CO" dirty="0"/>
          </a:p>
        </p:txBody>
      </p:sp>
      <p:cxnSp>
        <p:nvCxnSpPr>
          <p:cNvPr id="184" name="183 Conector recto"/>
          <p:cNvCxnSpPr/>
          <p:nvPr/>
        </p:nvCxnSpPr>
        <p:spPr>
          <a:xfrm flipH="1">
            <a:off x="1309965" y="819863"/>
            <a:ext cx="237700" cy="18115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Cuadro de texto 2"/>
          <p:cNvSpPr txBox="1">
            <a:spLocks noChangeArrowheads="1"/>
          </p:cNvSpPr>
          <p:nvPr/>
        </p:nvSpPr>
        <p:spPr bwMode="auto">
          <a:xfrm>
            <a:off x="70061" y="1124994"/>
            <a:ext cx="1117563" cy="43179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ASESORÍA CIONTABLE Y FINANCIERA (</a:t>
            </a:r>
            <a:r>
              <a:rPr lang="es-CO" sz="900" b="1" dirty="0" err="1" smtClean="0">
                <a:ea typeface="Calibri" panose="020F0502020204030204"/>
                <a:cs typeface="Times New Roman" panose="02020603050405020304"/>
              </a:rPr>
              <a:t>Loop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9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80" name="33 Conector recto"/>
          <p:cNvCxnSpPr/>
          <p:nvPr/>
        </p:nvCxnSpPr>
        <p:spPr>
          <a:xfrm flipH="1">
            <a:off x="5131022" y="1845573"/>
            <a:ext cx="17145" cy="5797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101 Conector recto"/>
          <p:cNvCxnSpPr>
            <a:stCxn id="66" idx="2"/>
          </p:cNvCxnSpPr>
          <p:nvPr/>
        </p:nvCxnSpPr>
        <p:spPr>
          <a:xfrm flipH="1">
            <a:off x="4724653" y="3057473"/>
            <a:ext cx="438062" cy="139069"/>
          </a:xfrm>
          <a:prstGeom prst="lin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Cuadro de texto 2"/>
          <p:cNvSpPr txBox="1">
            <a:spLocks noChangeArrowheads="1"/>
          </p:cNvSpPr>
          <p:nvPr/>
        </p:nvSpPr>
        <p:spPr bwMode="auto">
          <a:xfrm>
            <a:off x="3886200" y="3142615"/>
            <a:ext cx="968375" cy="64706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OPERARIO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  LOGÍSTIC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O E INVENTARIOS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 (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Fray Mercado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900" b="1" dirty="0" smtClean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4" name="Conector angular 3"/>
          <p:cNvCxnSpPr>
            <a:stCxn id="12" idx="3"/>
            <a:endCxn id="9" idx="3"/>
          </p:cNvCxnSpPr>
          <p:nvPr/>
        </p:nvCxnSpPr>
        <p:spPr>
          <a:xfrm flipH="1">
            <a:off x="8510270" y="2640965"/>
            <a:ext cx="240665" cy="697865"/>
          </a:xfrm>
          <a:prstGeom prst="bentConnector3">
            <a:avLst>
              <a:gd name="adj1" fmla="val -98945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Cuadro de texto 2"/>
          <p:cNvSpPr txBox="1">
            <a:spLocks noChangeArrowheads="1"/>
          </p:cNvSpPr>
          <p:nvPr/>
        </p:nvSpPr>
        <p:spPr bwMode="auto">
          <a:xfrm>
            <a:off x="5868035" y="2420620"/>
            <a:ext cx="1296035" cy="6076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LIDER DE OP</a:t>
            </a:r>
            <a:r>
              <a:rPr lang="es-ES" altLang="es-MX" sz="900" b="1" dirty="0" smtClean="0">
                <a:ea typeface="Calibri" panose="020F0502020204030204"/>
                <a:cs typeface="Times New Roman" panose="02020603050405020304"/>
              </a:rPr>
              <a:t>E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RACIONES INTERNACIONALES</a:t>
            </a:r>
            <a:endParaRPr lang="es-CO" sz="900" b="1" dirty="0" smtClean="0">
              <a:ea typeface="Calibri" panose="020F0502020204030204"/>
              <a:cs typeface="Times New Roman" panose="02020603050405020304"/>
            </a:endParaRPr>
          </a:p>
          <a:p>
            <a:pPr algn="ctr">
              <a:lnSpc>
                <a:spcPct val="115000"/>
              </a:lnSpc>
            </a:pP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(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Luz Mery Arroyave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900" b="1" dirty="0" smtClean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6" name="Cuadro de texto 2"/>
          <p:cNvSpPr txBox="1">
            <a:spLocks noChangeArrowheads="1"/>
          </p:cNvSpPr>
          <p:nvPr/>
        </p:nvSpPr>
        <p:spPr bwMode="auto">
          <a:xfrm>
            <a:off x="6516370" y="5085715"/>
            <a:ext cx="1166495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altLang="es-CO" sz="1000" b="1" dirty="0" smtClean="0">
                <a:ea typeface="Calibri" panose="020F0502020204030204"/>
                <a:cs typeface="Times New Roman" panose="02020603050405020304"/>
              </a:rPr>
              <a:t>STAFF COMERCIAL (Laura Sánchez)</a:t>
            </a:r>
            <a:endParaRPr lang="es-MX" alt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10" name="30 Conector recto"/>
          <p:cNvCxnSpPr/>
          <p:nvPr/>
        </p:nvCxnSpPr>
        <p:spPr>
          <a:xfrm flipH="1">
            <a:off x="7307907" y="2853339"/>
            <a:ext cx="1224280" cy="22326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uadro de texto 2"/>
          <p:cNvSpPr txBox="1">
            <a:spLocks noChangeArrowheads="1"/>
          </p:cNvSpPr>
          <p:nvPr/>
        </p:nvSpPr>
        <p:spPr bwMode="auto">
          <a:xfrm>
            <a:off x="5147945" y="4005580"/>
            <a:ext cx="823595" cy="73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AUXILIAR </a:t>
            </a:r>
            <a:r>
              <a:rPr lang="es-MX" altLang="es-CO" sz="1000" b="1" dirty="0" smtClean="0">
                <a:ea typeface="Calibri" panose="020F0502020204030204"/>
                <a:cs typeface="Times New Roman" panose="02020603050405020304"/>
              </a:rPr>
              <a:t>LOGÍSTIC</a:t>
            </a:r>
            <a:r>
              <a:rPr lang="es-ES" altLang="es-MX" sz="1000" b="1" dirty="0" smtClean="0">
                <a:ea typeface="Calibri" panose="020F0502020204030204"/>
                <a:cs typeface="Times New Roman" panose="02020603050405020304"/>
              </a:rPr>
              <a:t>O</a:t>
            </a:r>
            <a:r>
              <a:rPr lang="es-MX" altLang="es-CO" sz="1000" b="1" dirty="0" smtClean="0">
                <a:ea typeface="Calibri" panose="020F0502020204030204"/>
                <a:cs typeface="Times New Roman" panose="02020603050405020304"/>
              </a:rPr>
              <a:t> (Ian Narvaez</a:t>
            </a: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15" name="Cuadro de texto 2"/>
          <p:cNvSpPr txBox="1">
            <a:spLocks noChangeArrowheads="1"/>
          </p:cNvSpPr>
          <p:nvPr/>
        </p:nvSpPr>
        <p:spPr bwMode="auto">
          <a:xfrm>
            <a:off x="5130800" y="4797425"/>
            <a:ext cx="868680" cy="86169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900" b="1" dirty="0" smtClean="0">
                <a:ea typeface="Calibri" panose="020F0502020204030204"/>
                <a:cs typeface="Times New Roman" panose="02020603050405020304"/>
              </a:rPr>
              <a:t>Operario integral de logística e inventarios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 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(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Leonel Uribe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900" b="1" dirty="0" smtClean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16" name="Conector recto 15"/>
          <p:cNvCxnSpPr/>
          <p:nvPr/>
        </p:nvCxnSpPr>
        <p:spPr>
          <a:xfrm>
            <a:off x="5220335" y="3068955"/>
            <a:ext cx="182880" cy="1460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Cuadro de texto 2"/>
          <p:cNvSpPr txBox="1">
            <a:spLocks noChangeArrowheads="1"/>
          </p:cNvSpPr>
          <p:nvPr/>
        </p:nvSpPr>
        <p:spPr bwMode="auto">
          <a:xfrm>
            <a:off x="6316345" y="4135120"/>
            <a:ext cx="1123315" cy="62166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altLang="es-CO" sz="1000" b="1" dirty="0" smtClean="0">
                <a:ea typeface="Calibri" panose="020F0502020204030204"/>
                <a:cs typeface="Times New Roman" panose="02020603050405020304"/>
              </a:rPr>
              <a:t>ASISTENTE COMERCIAL (Adriana Quiceno)</a:t>
            </a:r>
            <a:endParaRPr lang="es-MX" alt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23" name="30 Conector recto"/>
          <p:cNvCxnSpPr>
            <a:stCxn id="9" idx="2"/>
            <a:endCxn id="22" idx="3"/>
          </p:cNvCxnSpPr>
          <p:nvPr/>
        </p:nvCxnSpPr>
        <p:spPr>
          <a:xfrm flipH="1">
            <a:off x="7439352" y="3620419"/>
            <a:ext cx="469265" cy="8261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orchete derecha 24"/>
          <p:cNvSpPr/>
          <p:nvPr/>
        </p:nvSpPr>
        <p:spPr>
          <a:xfrm>
            <a:off x="5748655" y="3028315"/>
            <a:ext cx="369570" cy="325056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MX" altLang="en-US"/>
          </a:p>
        </p:txBody>
      </p:sp>
      <p:sp>
        <p:nvSpPr>
          <p:cNvPr id="79" name="Cuadro de texto 2"/>
          <p:cNvSpPr txBox="1">
            <a:spLocks noChangeArrowheads="1"/>
          </p:cNvSpPr>
          <p:nvPr/>
        </p:nvSpPr>
        <p:spPr bwMode="auto">
          <a:xfrm>
            <a:off x="5147945" y="5805805"/>
            <a:ext cx="869315" cy="93599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800" b="1" dirty="0" smtClean="0">
                <a:ea typeface="Calibri" panose="020F0502020204030204"/>
                <a:cs typeface="Times New Roman" panose="02020603050405020304"/>
              </a:rPr>
              <a:t>OPERARIO DE </a:t>
            </a:r>
            <a:r>
              <a:rPr lang="es-CO" sz="800" b="1" dirty="0" smtClean="0">
                <a:ea typeface="Calibri" panose="020F0502020204030204"/>
                <a:cs typeface="Times New Roman" panose="02020603050405020304"/>
              </a:rPr>
              <a:t>MONTACARGAS Y OTROS OFICIOS DE PRODN (Leonardo Zapata)</a:t>
            </a:r>
            <a:endParaRPr lang="es-CO" sz="8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sp>
        <p:nvSpPr>
          <p:cNvPr id="64" name="Cuadro de texto 2"/>
          <p:cNvSpPr txBox="1">
            <a:spLocks noChangeArrowheads="1"/>
          </p:cNvSpPr>
          <p:nvPr/>
        </p:nvSpPr>
        <p:spPr bwMode="auto">
          <a:xfrm>
            <a:off x="2555240" y="3530600"/>
            <a:ext cx="984885" cy="83439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ASISTENTE DE PRODUCCION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 Y GESTIÓN DE CONTRATISTAS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 (</a:t>
            </a:r>
            <a:r>
              <a:rPr lang="es-MX" altLang="es-CO" sz="900" b="1" dirty="0" smtClean="0">
                <a:ea typeface="Calibri" panose="020F0502020204030204"/>
                <a:cs typeface="Times New Roman" panose="02020603050405020304"/>
              </a:rPr>
              <a:t>Eveli Córdoba</a:t>
            </a:r>
            <a:r>
              <a:rPr lang="es-CO" sz="900" b="1" dirty="0" smtClean="0">
                <a:ea typeface="Calibri" panose="020F0502020204030204"/>
                <a:cs typeface="Times New Roman" panose="02020603050405020304"/>
              </a:rPr>
              <a:t>)</a:t>
            </a:r>
            <a:endParaRPr lang="es-CO" sz="9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46" name="Conector recto 45"/>
          <p:cNvCxnSpPr>
            <a:stCxn id="2" idx="3"/>
          </p:cNvCxnSpPr>
          <p:nvPr/>
        </p:nvCxnSpPr>
        <p:spPr>
          <a:xfrm flipV="1">
            <a:off x="5971540" y="4149090"/>
            <a:ext cx="184785" cy="222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Conector recto 48"/>
          <p:cNvCxnSpPr>
            <a:stCxn id="15" idx="3"/>
          </p:cNvCxnSpPr>
          <p:nvPr/>
        </p:nvCxnSpPr>
        <p:spPr>
          <a:xfrm flipV="1">
            <a:off x="5999480" y="5138420"/>
            <a:ext cx="139700" cy="901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V="1">
            <a:off x="5982970" y="3399790"/>
            <a:ext cx="139700" cy="901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7" name="Cuadro de texto 2"/>
          <p:cNvSpPr txBox="1">
            <a:spLocks noChangeArrowheads="1"/>
          </p:cNvSpPr>
          <p:nvPr/>
        </p:nvSpPr>
        <p:spPr bwMode="auto">
          <a:xfrm>
            <a:off x="5076190" y="3215005"/>
            <a:ext cx="941070" cy="65468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1000" b="1" dirty="0" smtClean="0">
                <a:ea typeface="Calibri" panose="020F0502020204030204"/>
                <a:cs typeface="Times New Roman" panose="02020603050405020304"/>
              </a:rPr>
              <a:t>AUXILIAR DE INVENTARIOS (Daniel Flórez)</a:t>
            </a:r>
            <a:endParaRPr lang="es-CO" sz="10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52" name="Conector angular 51"/>
          <p:cNvCxnSpPr>
            <a:endCxn id="103" idx="3"/>
          </p:cNvCxnSpPr>
          <p:nvPr/>
        </p:nvCxnSpPr>
        <p:spPr>
          <a:xfrm rot="5400000">
            <a:off x="6269355" y="2666365"/>
            <a:ext cx="1788795" cy="14541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Cuadro de texto 2"/>
          <p:cNvSpPr txBox="1">
            <a:spLocks noChangeArrowheads="1"/>
          </p:cNvSpPr>
          <p:nvPr/>
        </p:nvSpPr>
        <p:spPr bwMode="auto">
          <a:xfrm>
            <a:off x="35560" y="2348865"/>
            <a:ext cx="1753870" cy="6178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8457" tIns="49228" rIns="98457" bIns="49228" anchor="ctr" anchorCtr="0">
            <a:noAutofit/>
          </a:bodyPr>
          <a:lstStyle/>
          <a:p>
            <a:pPr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altLang="es-CO" sz="1100" b="1" dirty="0" smtClean="0">
                <a:ea typeface="Calibri" panose="020F0502020204030204"/>
                <a:cs typeface="Times New Roman" panose="02020603050405020304"/>
              </a:rPr>
              <a:t>DIRECTORA DE DESARROLLO ORGANIZACIONAL Y TALENTO HUMANO</a:t>
            </a:r>
            <a:r>
              <a:rPr lang="es-CO" sz="1100" b="1" dirty="0" smtClean="0">
                <a:ea typeface="Calibri" panose="020F0502020204030204"/>
                <a:cs typeface="Times New Roman" panose="02020603050405020304"/>
              </a:rPr>
              <a:t>(Alexandra Rozo)</a:t>
            </a:r>
            <a:endParaRPr lang="es-CO" sz="1100" dirty="0">
              <a:latin typeface="Calibri" panose="020F0502020204030204"/>
              <a:ea typeface="Calibri" panose="020F0502020204030204"/>
              <a:cs typeface="Times New Roman" panose="02020603050405020304"/>
            </a:endParaRPr>
          </a:p>
        </p:txBody>
      </p:sp>
      <p:cxnSp>
        <p:nvCxnSpPr>
          <p:cNvPr id="13" name="85 Conector recto"/>
          <p:cNvCxnSpPr>
            <a:endCxn id="66" idx="2"/>
          </p:cNvCxnSpPr>
          <p:nvPr/>
        </p:nvCxnSpPr>
        <p:spPr>
          <a:xfrm flipV="1">
            <a:off x="3426049" y="3057307"/>
            <a:ext cx="1736725" cy="28943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1760</Words>
  <Application>WPS Presentation</Application>
  <PresentationFormat>Presentación en pantalla (4:3)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Times New Roman</vt:lpstr>
      <vt:lpstr>Microsoft YaHei</vt:lpstr>
      <vt:lpstr>Arial Unicode MS</vt:lpstr>
      <vt:lpstr>Calibri</vt:lpstr>
      <vt:lpstr>Tema de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TalentoHumano</dc:creator>
  <cp:lastModifiedBy>Alexandra Rozo</cp:lastModifiedBy>
  <cp:revision>30</cp:revision>
  <dcterms:created xsi:type="dcterms:W3CDTF">2021-09-29T16:21:00Z</dcterms:created>
  <dcterms:modified xsi:type="dcterms:W3CDTF">2026-07-25T13:26:52Z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DB4DCD2F495940A6A8F6B6BD3846C5C8_13</vt:lpwstr>
  </property>
  <property fmtid="{D5CDD505-2E9C-101B-9397-08002B2CF9AE}" pid="3" name="KSOProductBuildVer">
    <vt:lpwstr>2058-12.1.0.27458</vt:lpwstr>
  </property>
</Properties>
</file>